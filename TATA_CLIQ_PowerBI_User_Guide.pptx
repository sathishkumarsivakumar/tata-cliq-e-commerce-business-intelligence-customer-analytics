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2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297680" cy="6858000"/>
          </a:xfrm>
          <a:prstGeom prst="rect">
            <a:avLst/>
          </a:prstGeom>
          <a:solidFill>
            <a:srgbClr val="861142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097280"/>
            <a:ext cx="3291840" cy="329184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4" name="Shape 2"/>
          <p:cNvSpPr/>
          <p:nvPr/>
        </p:nvSpPr>
        <p:spPr>
          <a:xfrm>
            <a:off x="8869680" y="4572000"/>
            <a:ext cx="4023360" cy="4023360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745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 ·  USER GUIDE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22860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TATA CLIQ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640080" y="324612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D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Sales, Customer &amp; Product Analytics Dashboard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4160520"/>
            <a:ext cx="2011680" cy="0"/>
          </a:xfrm>
          <a:prstGeom prst="line">
            <a:avLst/>
          </a:prstGeom>
          <a:noFill/>
          <a:ln w="31750">
            <a:solidFill>
              <a:srgbClr val="F2A5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34340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the report, use its filters and navigation, understand every KPI, and access it in the Power BI Service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61264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as a working guide for report viewers and business users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INSIDE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 Contents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85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3B7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34440" y="1572768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at a Glance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34440" y="1892808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Purpose, data behind the report, and the three pages it contains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679192"/>
            <a:ext cx="685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3B7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234440" y="265176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34440" y="297180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KPI cards and charts on the main landing page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758184"/>
            <a:ext cx="685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3B7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234440" y="3730752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&amp; Slicers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34440" y="4050792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Narrowing the view by year, month, region, state and category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4837176"/>
            <a:ext cx="685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3B7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234440" y="4809744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vs Target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5129784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actuals to targets by region with the pivot, chart and map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63640" y="1600200"/>
            <a:ext cx="685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3B7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949440" y="1572768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Table View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949440" y="1892808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detail for customers, products and stores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63640" y="2679192"/>
            <a:ext cx="685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3B7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949440" y="265176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Glossary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949440" y="297180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metric on the dashboard actually means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63640" y="3758184"/>
            <a:ext cx="685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3B7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949440" y="3730752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Service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949440" y="4050792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Opening, refreshing and sharing the report at app.powerbi.com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CLIQ Analytics Dashboard  |  Power BI User Guide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at a Glance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tracks sales, profitability, customers and product performance across TATA CLIQ's e-commerce business, sourced from Power BI's data model shown below.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5486400" cy="3566160"/>
          </a:xfrm>
          <a:prstGeom prst="roundRect">
            <a:avLst>
              <a:gd name="adj" fmla="val 2051"/>
            </a:avLst>
          </a:prstGeom>
          <a:solidFill>
            <a:srgbClr val="F7F3F5"/>
          </a:solidFill>
          <a:ln w="12700">
            <a:solidFill>
              <a:srgbClr val="E8DC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697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3090672"/>
            <a:ext cx="118872" cy="118872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3008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FactSales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423160" y="3008376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transactions: sales, profit, orders, returns, delivery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" y="3511296"/>
            <a:ext cx="118872" cy="118872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3429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DimDate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23160" y="342900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hierarchy — year, month, day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2960" y="3931920"/>
            <a:ext cx="118872" cy="118872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384962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DimCustomer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23160" y="3849624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Customer, region, state, city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22960" y="4352544"/>
            <a:ext cx="118872" cy="118872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427024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DimProduct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423160" y="427024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Product, category, sub-category, brand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22960" y="4773168"/>
            <a:ext cx="118872" cy="118872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20" name="Text 18"/>
          <p:cNvSpPr/>
          <p:nvPr/>
        </p:nvSpPr>
        <p:spPr>
          <a:xfrm>
            <a:off x="1051560" y="469087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DimEmployee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423160" y="469087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Employee, department, region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22960" y="5193792"/>
            <a:ext cx="118872" cy="118872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23" name="Text 21"/>
          <p:cNvSpPr/>
          <p:nvPr/>
        </p:nvSpPr>
        <p:spPr>
          <a:xfrm>
            <a:off x="1051560" y="511149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DimStore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423160" y="5111496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and state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22960" y="5614416"/>
            <a:ext cx="118872" cy="118872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26" name="Text 24"/>
          <p:cNvSpPr/>
          <p:nvPr/>
        </p:nvSpPr>
        <p:spPr>
          <a:xfrm>
            <a:off x="1051560" y="55321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RegionTarget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423160" y="553212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and profit targets by region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355080" y="1417320"/>
            <a:ext cx="5257800" cy="4617720"/>
          </a:xfrm>
          <a:prstGeom prst="roundRect">
            <a:avLst>
              <a:gd name="adj" fmla="val 1584"/>
            </a:avLst>
          </a:prstGeom>
          <a:solidFill>
            <a:srgbClr val="22223B"/>
          </a:solidFill>
          <a:ln/>
        </p:spPr>
      </p:sp>
      <p:sp>
        <p:nvSpPr>
          <p:cNvPr id="29" name="Text 27"/>
          <p:cNvSpPr/>
          <p:nvPr/>
        </p:nvSpPr>
        <p:spPr>
          <a:xfrm>
            <a:off x="6675120" y="1645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REPORT PAGES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675120" y="2148840"/>
            <a:ext cx="502920" cy="502920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31" name="Text 29"/>
          <p:cNvSpPr/>
          <p:nvPr/>
        </p:nvSpPr>
        <p:spPr>
          <a:xfrm>
            <a:off x="667512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360920" y="21031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360920" y="242316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9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— KPI cards, trend charts, regional &amp; product breakdowns, and all slicers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675120" y="3474720"/>
            <a:ext cx="502920" cy="502920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35" name="Text 33"/>
          <p:cNvSpPr/>
          <p:nvPr/>
        </p:nvSpPr>
        <p:spPr>
          <a:xfrm>
            <a:off x="667512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360920" y="34290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vs Target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360920" y="374904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9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Region-wise pivot table, combo chart and map comparing actual sales/profit to targets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675120" y="4800600"/>
            <a:ext cx="502920" cy="502920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39" name="Text 37"/>
          <p:cNvSpPr/>
          <p:nvPr/>
        </p:nvSpPr>
        <p:spPr>
          <a:xfrm>
            <a:off x="6675120" y="4800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7360920" y="47548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Table View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360920" y="507492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9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Flat, exportable detail table of customers, products, stores and sales figures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CLIQ Analytics Dashboard  |  Power BI User Guide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 ·  PAGE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Dashboard — KPI Cards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strip of the dashboard shows headline numbers as card visuals. These always reflect whatever filters/slicers are currently selected.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697480" cy="1005840"/>
          </a:xfrm>
          <a:prstGeom prst="roundRect">
            <a:avLst>
              <a:gd name="adj" fmla="val 6364"/>
            </a:avLst>
          </a:prstGeom>
          <a:solidFill>
            <a:srgbClr val="FDF7F9"/>
          </a:solidFill>
          <a:ln w="12700">
            <a:solidFill>
              <a:srgbClr val="E8DC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057400"/>
            <a:ext cx="82296" cy="1005840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258568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383280" y="2057400"/>
            <a:ext cx="2697480" cy="1005840"/>
          </a:xfrm>
          <a:prstGeom prst="roundRect">
            <a:avLst>
              <a:gd name="adj" fmla="val 6364"/>
            </a:avLst>
          </a:prstGeom>
          <a:solidFill>
            <a:srgbClr val="FDF7F9"/>
          </a:solidFill>
          <a:ln w="12700">
            <a:solidFill>
              <a:srgbClr val="E8DCE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0" y="2057400"/>
            <a:ext cx="82296" cy="100584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10" name="Text 8"/>
          <p:cNvSpPr/>
          <p:nvPr/>
        </p:nvSpPr>
        <p:spPr>
          <a:xfrm>
            <a:off x="3611880" y="2258568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17920" y="2057400"/>
            <a:ext cx="2697480" cy="1005840"/>
          </a:xfrm>
          <a:prstGeom prst="roundRect">
            <a:avLst>
              <a:gd name="adj" fmla="val 6364"/>
            </a:avLst>
          </a:prstGeom>
          <a:solidFill>
            <a:srgbClr val="FDF7F9"/>
          </a:solidFill>
          <a:ln w="12700">
            <a:solidFill>
              <a:srgbClr val="E8DCE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2057400"/>
            <a:ext cx="82296" cy="1005840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2258568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9052560" y="2057400"/>
            <a:ext cx="2697480" cy="1005840"/>
          </a:xfrm>
          <a:prstGeom prst="roundRect">
            <a:avLst>
              <a:gd name="adj" fmla="val 6364"/>
            </a:avLst>
          </a:prstGeom>
          <a:solidFill>
            <a:srgbClr val="FDF7F9"/>
          </a:solidFill>
          <a:ln w="12700">
            <a:solidFill>
              <a:srgbClr val="E8DC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052560" y="2057400"/>
            <a:ext cx="82296" cy="1005840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16" name="Text 14"/>
          <p:cNvSpPr/>
          <p:nvPr/>
        </p:nvSpPr>
        <p:spPr>
          <a:xfrm>
            <a:off x="9281160" y="2258568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3200400"/>
            <a:ext cx="2697480" cy="1005840"/>
          </a:xfrm>
          <a:prstGeom prst="roundRect">
            <a:avLst>
              <a:gd name="adj" fmla="val 6364"/>
            </a:avLst>
          </a:prstGeom>
          <a:solidFill>
            <a:srgbClr val="FDF7F9"/>
          </a:solidFill>
          <a:ln w="12700">
            <a:solidFill>
              <a:srgbClr val="E8DCE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200400"/>
            <a:ext cx="82296" cy="100584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401568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 %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383280" y="3200400"/>
            <a:ext cx="2697480" cy="1005840"/>
          </a:xfrm>
          <a:prstGeom prst="roundRect">
            <a:avLst>
              <a:gd name="adj" fmla="val 6364"/>
            </a:avLst>
          </a:prstGeom>
          <a:solidFill>
            <a:srgbClr val="FDF7F9"/>
          </a:solidFill>
          <a:ln w="12700">
            <a:solidFill>
              <a:srgbClr val="E8DCE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83280" y="3200400"/>
            <a:ext cx="82296" cy="1005840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22" name="Text 20"/>
          <p:cNvSpPr/>
          <p:nvPr/>
        </p:nvSpPr>
        <p:spPr>
          <a:xfrm>
            <a:off x="3611880" y="3401568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Rate %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217920" y="3200400"/>
            <a:ext cx="2697480" cy="1005840"/>
          </a:xfrm>
          <a:prstGeom prst="roundRect">
            <a:avLst>
              <a:gd name="adj" fmla="val 6364"/>
            </a:avLst>
          </a:prstGeom>
          <a:solidFill>
            <a:srgbClr val="FDF7F9"/>
          </a:solidFill>
          <a:ln w="12700">
            <a:solidFill>
              <a:srgbClr val="E8DCE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0" y="3200400"/>
            <a:ext cx="82296" cy="1005840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25" name="Text 23"/>
          <p:cNvSpPr/>
          <p:nvPr/>
        </p:nvSpPr>
        <p:spPr>
          <a:xfrm>
            <a:off x="6446520" y="3401568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Sales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9052560" y="3200400"/>
            <a:ext cx="2697480" cy="1005840"/>
          </a:xfrm>
          <a:prstGeom prst="roundRect">
            <a:avLst>
              <a:gd name="adj" fmla="val 6364"/>
            </a:avLst>
          </a:prstGeom>
          <a:solidFill>
            <a:srgbClr val="FDF7F9"/>
          </a:solidFill>
          <a:ln w="12700">
            <a:solidFill>
              <a:srgbClr val="E8DC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052560" y="3200400"/>
            <a:ext cx="82296" cy="100584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28" name="Text 26"/>
          <p:cNvSpPr/>
          <p:nvPr/>
        </p:nvSpPr>
        <p:spPr>
          <a:xfrm>
            <a:off x="9281160" y="3401568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Growth %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548640" y="4343400"/>
            <a:ext cx="2697480" cy="1005840"/>
          </a:xfrm>
          <a:prstGeom prst="roundRect">
            <a:avLst>
              <a:gd name="adj" fmla="val 6364"/>
            </a:avLst>
          </a:prstGeom>
          <a:solidFill>
            <a:srgbClr val="FDF7F9"/>
          </a:solidFill>
          <a:ln w="12700">
            <a:solidFill>
              <a:srgbClr val="E8DCE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4343400"/>
            <a:ext cx="82296" cy="1005840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4544568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Order Value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3383280" y="4343400"/>
            <a:ext cx="2697480" cy="1005840"/>
          </a:xfrm>
          <a:prstGeom prst="roundRect">
            <a:avLst>
              <a:gd name="adj" fmla="val 6364"/>
            </a:avLst>
          </a:prstGeom>
          <a:solidFill>
            <a:srgbClr val="FDF7F9"/>
          </a:solidFill>
          <a:ln w="12700">
            <a:solidFill>
              <a:srgbClr val="E8DCE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83280" y="4343400"/>
            <a:ext cx="82296" cy="1005840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34" name="Text 32"/>
          <p:cNvSpPr/>
          <p:nvPr/>
        </p:nvSpPr>
        <p:spPr>
          <a:xfrm>
            <a:off x="3611880" y="4544568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Customers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6217920" y="4343400"/>
            <a:ext cx="2697480" cy="1005840"/>
          </a:xfrm>
          <a:prstGeom prst="roundRect">
            <a:avLst>
              <a:gd name="adj" fmla="val 6364"/>
            </a:avLst>
          </a:prstGeom>
          <a:solidFill>
            <a:srgbClr val="FDF7F9"/>
          </a:solidFill>
          <a:ln w="12700">
            <a:solidFill>
              <a:srgbClr val="E8DCE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17920" y="4343400"/>
            <a:ext cx="82296" cy="100584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7" name="Text 35"/>
          <p:cNvSpPr/>
          <p:nvPr/>
        </p:nvSpPr>
        <p:spPr>
          <a:xfrm>
            <a:off x="6446520" y="4544568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Delivery %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9052560" y="4343400"/>
            <a:ext cx="2697480" cy="1005840"/>
          </a:xfrm>
          <a:prstGeom prst="roundRect">
            <a:avLst>
              <a:gd name="adj" fmla="val 6364"/>
            </a:avLst>
          </a:prstGeom>
          <a:solidFill>
            <a:srgbClr val="FDF7F9"/>
          </a:solidFill>
          <a:ln w="12700">
            <a:solidFill>
              <a:srgbClr val="E8DCE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052560" y="4343400"/>
            <a:ext cx="82296" cy="1005840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40" name="Text 38"/>
          <p:cNvSpPr/>
          <p:nvPr/>
        </p:nvSpPr>
        <p:spPr>
          <a:xfrm>
            <a:off x="9281160" y="4544568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Delivery Days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CLIQ Analytics Dashboard  |  Power BI User Guide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 ·  PAGE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Dashboard — Charts &amp; Visuals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" cy="612648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173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by Year / Month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31520" y="1664208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&amp; line charts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profit is concentrated and how it trends month over month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54864" cy="612648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2860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by Region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" y="2532888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Combo chart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31520" y="27432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profit across regions with a trend overlay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54864" cy="612648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1546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by State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31520" y="3401568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 chart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31520" y="36118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how each state adds to or subtracts from total profit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4069080"/>
            <a:ext cx="54864" cy="612648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0233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→ Sub-Category Profit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31520" y="4270248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31520" y="44805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Drop-off in profit as you move from category to sub-category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4937760"/>
            <a:ext cx="54864" cy="612648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8920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by Month &amp; Year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31520" y="5138928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area chart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31520" y="5349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volume trend, layered by year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537960" y="1463040"/>
            <a:ext cx="54864" cy="612648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25" name="Text 23"/>
          <p:cNvSpPr/>
          <p:nvPr/>
        </p:nvSpPr>
        <p:spPr>
          <a:xfrm>
            <a:off x="6720840" y="14173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by City &amp; Region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720840" y="1664208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column combo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720840" y="18745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City-level order volume split by employee region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537960" y="2331720"/>
            <a:ext cx="54864" cy="612648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29" name="Text 27"/>
          <p:cNvSpPr/>
          <p:nvPr/>
        </p:nvSpPr>
        <p:spPr>
          <a:xfrm>
            <a:off x="6720840" y="22860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by Brand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720840" y="2532888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720840" y="27432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total orders contributed by each brand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537960" y="3200400"/>
            <a:ext cx="54864" cy="612648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33" name="Text 31"/>
          <p:cNvSpPr/>
          <p:nvPr/>
        </p:nvSpPr>
        <p:spPr>
          <a:xfrm>
            <a:off x="6720840" y="31546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by Department &amp; Category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720840" y="3401568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Clustered bar chart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720840" y="36118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department performance split by product category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537960" y="4069080"/>
            <a:ext cx="54864" cy="612648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37" name="Text 35"/>
          <p:cNvSpPr/>
          <p:nvPr/>
        </p:nvSpPr>
        <p:spPr>
          <a:xfrm>
            <a:off x="6720840" y="40233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by Region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6720840" y="4270248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stacked bar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720840" y="44805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share of total sales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537960" y="4937760"/>
            <a:ext cx="54864" cy="612648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41" name="Text 39"/>
          <p:cNvSpPr/>
          <p:nvPr/>
        </p:nvSpPr>
        <p:spPr>
          <a:xfrm>
            <a:off x="6720840" y="48920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Products by Sales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6720840" y="5138928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Clustered column chart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720840" y="5349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Best-selling products ranked by sales value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CLIQ Analytics Dashboard  |  Power BI User Guide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 ·  PAGE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Filters &amp; Slicers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chart and card on the Executive Dashboard responds live to the slicers placed around the page. Use them to focus the whole page on exactly what you need.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02920" cy="502920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204825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230428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advancedSlicerVisual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794760" y="21031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the whole page to one or more years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880360"/>
            <a:ext cx="502920" cy="502920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34440" y="282549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34440" y="308152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slicer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794760" y="28803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 into a specific month within the selected year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34440" y="360273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385876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 slicer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794760" y="36576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one customer region at a time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434840"/>
            <a:ext cx="502920" cy="502920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34440" y="437997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/ City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34440" y="46360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&amp; list slicers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794760" y="44348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to a specific state or city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5212080"/>
            <a:ext cx="502920" cy="502920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5212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234440" y="515721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234440" y="54132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 slicer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794760" y="52120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one product category across all visuals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223760" y="2103120"/>
            <a:ext cx="4389120" cy="3931920"/>
          </a:xfrm>
          <a:prstGeom prst="roundRect">
            <a:avLst>
              <a:gd name="adj" fmla="val 1860"/>
            </a:avLst>
          </a:prstGeom>
          <a:solidFill>
            <a:srgbClr val="22223B"/>
          </a:solidFill>
          <a:ln/>
        </p:spPr>
      </p:sp>
      <p:sp>
        <p:nvSpPr>
          <p:cNvPr id="31" name="Text 29"/>
          <p:cNvSpPr/>
          <p:nvPr/>
        </p:nvSpPr>
        <p:spPr>
          <a:xfrm>
            <a:off x="7498080" y="23317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TIPS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498080" y="274320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772400" y="2743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8D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one value in a slicer to select only that item; ctrl-click to select several.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498080" y="3255264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772400" y="325526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8D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selected value again to clear it.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498080" y="3767328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772400" y="376732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8D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any chart to see exact figures in the tooltip.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498080" y="4279392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772400" y="427939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8D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bar, slice or point on a chart to cross-filter every other visual on the page.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498080" y="4791456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772400" y="479145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8D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funnel/filter icon on a visual's toolbar for that visual's own filter pane.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498080" y="530352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772400" y="53035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8D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Selections you make are page-specific and reset when you leave the report.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CLIQ Analytics Dashboard  |  Power BI User Guide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  ·  PAGE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vs Target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page benchmarks actual performance against RegionTarget goals, region by region.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520440" cy="3840480"/>
          </a:xfrm>
          <a:prstGeom prst="roundRect">
            <a:avLst>
              <a:gd name="adj" fmla="val 2078"/>
            </a:avLst>
          </a:prstGeom>
          <a:solidFill>
            <a:srgbClr val="FDF7F9"/>
          </a:solidFill>
          <a:ln w="12700">
            <a:solidFill>
              <a:srgbClr val="E8DC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103120"/>
            <a:ext cx="3520440" cy="82296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3317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Pivot Table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788920"/>
            <a:ext cx="30632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Region-wise breakdown of Total Sales vs Target Sales and Total Profit vs Target Profit — expand rows to compare exact figures.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97680" y="2103120"/>
            <a:ext cx="3520440" cy="3840480"/>
          </a:xfrm>
          <a:prstGeom prst="roundRect">
            <a:avLst>
              <a:gd name="adj" fmla="val 2078"/>
            </a:avLst>
          </a:prstGeom>
          <a:solidFill>
            <a:srgbClr val="FDF7F9"/>
          </a:solidFill>
          <a:ln w="12700">
            <a:solidFill>
              <a:srgbClr val="E8DC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0" y="2103120"/>
            <a:ext cx="3520440" cy="82296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23317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Combo Chart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26280" y="2788920"/>
            <a:ext cx="30632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Sales &amp; Profit as columns, with Target Sales &amp; Target Profit overlaid as lines, by region — shows over/under-target at a glance.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46720" y="2103120"/>
            <a:ext cx="3520440" cy="3840480"/>
          </a:xfrm>
          <a:prstGeom prst="roundRect">
            <a:avLst>
              <a:gd name="adj" fmla="val 2078"/>
            </a:avLst>
          </a:prstGeom>
          <a:solidFill>
            <a:srgbClr val="FDF7F9"/>
          </a:solidFill>
          <a:ln w="12700">
            <a:solidFill>
              <a:srgbClr val="E8DCE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0" y="2103120"/>
            <a:ext cx="3520440" cy="82296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15" name="Text 13"/>
          <p:cNvSpPr/>
          <p:nvPr/>
        </p:nvSpPr>
        <p:spPr>
          <a:xfrm>
            <a:off x="8275320" y="23317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75320" y="2788920"/>
            <a:ext cx="30632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view sized by Total Sales, coloured by region, with Profit and Target figures in the tooltip on hover.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CLIQ Analytics Dashboard  |  Power BI User Guide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  ·  PAGE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Table 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132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flat, row-level table for when you need the underlying detail rather than a chart — useful for spot-checks, exports, or answering a specific question about one customer, product or store.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7889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IN THE TABLE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3154680"/>
            <a:ext cx="3383280" cy="365760"/>
          </a:xfrm>
          <a:prstGeom prst="roundRect">
            <a:avLst>
              <a:gd name="adj" fmla="val 15000"/>
            </a:avLst>
          </a:prstGeom>
          <a:solidFill>
            <a:srgbClr val="F7F3F5"/>
          </a:solidFill>
          <a:ln w="9525">
            <a:solidFill>
              <a:srgbClr val="E8DC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1546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60520" y="3154680"/>
            <a:ext cx="3383280" cy="365760"/>
          </a:xfrm>
          <a:prstGeom prst="roundRect">
            <a:avLst>
              <a:gd name="adj" fmla="val 15000"/>
            </a:avLst>
          </a:prstGeom>
          <a:solidFill>
            <a:srgbClr val="F7F3F5"/>
          </a:solidFill>
          <a:ln w="9525">
            <a:solidFill>
              <a:srgbClr val="E8DC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60520" y="31546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Name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611880"/>
            <a:ext cx="3383280" cy="365760"/>
          </a:xfrm>
          <a:prstGeom prst="roundRect">
            <a:avLst>
              <a:gd name="adj" fmla="val 15000"/>
            </a:avLst>
          </a:prstGeom>
          <a:solidFill>
            <a:srgbClr val="F7F3F5"/>
          </a:solidFill>
          <a:ln w="9525">
            <a:solidFill>
              <a:srgbClr val="E8DC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6118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60520" y="3611880"/>
            <a:ext cx="3383280" cy="365760"/>
          </a:xfrm>
          <a:prstGeom prst="roundRect">
            <a:avLst>
              <a:gd name="adj" fmla="val 15000"/>
            </a:avLst>
          </a:prstGeom>
          <a:solidFill>
            <a:srgbClr val="F7F3F5"/>
          </a:solidFill>
          <a:ln w="9525">
            <a:solidFill>
              <a:srgbClr val="E8DC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60520" y="36118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Name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3383280" cy="365760"/>
          </a:xfrm>
          <a:prstGeom prst="roundRect">
            <a:avLst>
              <a:gd name="adj" fmla="val 15000"/>
            </a:avLst>
          </a:prstGeom>
          <a:solidFill>
            <a:srgbClr val="F7F3F5"/>
          </a:solidFill>
          <a:ln w="9525">
            <a:solidFill>
              <a:srgbClr val="E8DC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0690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State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60520" y="4069080"/>
            <a:ext cx="3383280" cy="365760"/>
          </a:xfrm>
          <a:prstGeom prst="roundRect">
            <a:avLst>
              <a:gd name="adj" fmla="val 15000"/>
            </a:avLst>
          </a:prstGeom>
          <a:solidFill>
            <a:srgbClr val="F7F3F5"/>
          </a:solidFill>
          <a:ln w="9525">
            <a:solidFill>
              <a:srgbClr val="E8DC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60520" y="40690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ID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526280"/>
            <a:ext cx="3383280" cy="365760"/>
          </a:xfrm>
          <a:prstGeom prst="roundRect">
            <a:avLst>
              <a:gd name="adj" fmla="val 15000"/>
            </a:avLst>
          </a:prstGeom>
          <a:solidFill>
            <a:srgbClr val="F7F3F5"/>
          </a:solidFill>
          <a:ln w="9525">
            <a:solidFill>
              <a:srgbClr val="E8DC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5262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60520" y="4526280"/>
            <a:ext cx="3383280" cy="365760"/>
          </a:xfrm>
          <a:prstGeom prst="roundRect">
            <a:avLst>
              <a:gd name="adj" fmla="val 15000"/>
            </a:avLst>
          </a:prstGeom>
          <a:solidFill>
            <a:srgbClr val="F7F3F5"/>
          </a:solidFill>
          <a:ln w="9525">
            <a:solidFill>
              <a:srgbClr val="E8DC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60520" y="45262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Quantity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001000" y="1417320"/>
            <a:ext cx="3611880" cy="3840480"/>
          </a:xfrm>
          <a:prstGeom prst="roundRect">
            <a:avLst>
              <a:gd name="adj" fmla="val 2025"/>
            </a:avLst>
          </a:prstGeom>
          <a:solidFill>
            <a:srgbClr val="22223B"/>
          </a:solidFill>
          <a:ln/>
        </p:spPr>
      </p:sp>
      <p:sp>
        <p:nvSpPr>
          <p:cNvPr id="23" name="Text 21"/>
          <p:cNvSpPr/>
          <p:nvPr/>
        </p:nvSpPr>
        <p:spPr>
          <a:xfrm>
            <a:off x="8275320" y="16459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IT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75320" y="2103120"/>
            <a:ext cx="228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549640" y="210312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D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column header to sort ascending, click again for descending.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275320" y="2880360"/>
            <a:ext cx="228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549640" y="288036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D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Right-click a row for options like Copy or Include/Exclude.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275320" y="3657600"/>
            <a:ext cx="228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549640" y="365760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D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visual's own header icons to export the data to Excel/CSV.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275320" y="4434840"/>
            <a:ext cx="228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549640" y="443484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D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with the report's slicers to narrow the table before exporting.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CLIQ Analytics Dashboard  |  Power BI User Guide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Glossary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28016" cy="128016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8988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1709928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all sales value across selected filters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128016" cy="128016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30428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2624328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minus cost, across selected filters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128016" cy="128016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21868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 %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22960" y="3538728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 as a percentage of Total Sales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4251960"/>
            <a:ext cx="128016" cy="128016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13308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2960" y="4453128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of distinct orders placed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5166360"/>
            <a:ext cx="128016" cy="128016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04748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Rate %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22960" y="5367528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 orders as a percentage of total orders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537960" y="1508760"/>
            <a:ext cx="128016" cy="128016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20" name="Text 18"/>
          <p:cNvSpPr/>
          <p:nvPr/>
        </p:nvSpPr>
        <p:spPr>
          <a:xfrm>
            <a:off x="6812280" y="138988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Order Value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812280" y="1709928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divided by Total Orders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537960" y="2423160"/>
            <a:ext cx="128016" cy="128016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23" name="Text 21"/>
          <p:cNvSpPr/>
          <p:nvPr/>
        </p:nvSpPr>
        <p:spPr>
          <a:xfrm>
            <a:off x="6812280" y="230428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Delivery Days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812280" y="2624328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time between order and delivery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537960" y="3337560"/>
            <a:ext cx="128016" cy="128016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26" name="Text 24"/>
          <p:cNvSpPr/>
          <p:nvPr/>
        </p:nvSpPr>
        <p:spPr>
          <a:xfrm>
            <a:off x="6812280" y="321868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Delivery %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812280" y="3538728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orders delivered after the expected date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537960" y="4251960"/>
            <a:ext cx="128016" cy="128016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29" name="Text 27"/>
          <p:cNvSpPr/>
          <p:nvPr/>
        </p:nvSpPr>
        <p:spPr>
          <a:xfrm>
            <a:off x="6812280" y="413308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Growth %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812280" y="4453128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in sales versus the prior comparable period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537960" y="5166360"/>
            <a:ext cx="128016" cy="128016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32" name="Text 30"/>
          <p:cNvSpPr/>
          <p:nvPr/>
        </p:nvSpPr>
        <p:spPr>
          <a:xfrm>
            <a:off x="6812280" y="504748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/ High Value Customers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812280" y="5367528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meeting a defined high-spend threshold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CLIQ Analytics Dashboard  |  Power BI User Guide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Opening the Report in Power BI Service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published report lives in your workspace at app.powerbi.com — no desktop file needed once it's published.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02920" cy="502920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2002536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657600" y="1965960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app.powerbi.com and sign in with your Microsoft/Power BI account.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898648"/>
            <a:ext cx="502920" cy="502920"/>
          </a:xfrm>
          <a:prstGeom prst="ellipse">
            <a:avLst/>
          </a:prstGeom>
          <a:solidFill>
            <a:srgbClr val="22223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898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2843784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Workspaces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657600" y="2807208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left navigation, select Workspaces and choose the workspace this report was published to.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739896"/>
            <a:ext cx="502920" cy="502920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7398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368503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report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657600" y="3648456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"TATA CLIQ" (or the .pbix file's name) under the Reports section of the workspace.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581144"/>
            <a:ext cx="502920" cy="502920"/>
          </a:xfrm>
          <a:prstGeom prst="ellipse">
            <a:avLst/>
          </a:prstGeom>
          <a:solidFill>
            <a:srgbClr val="22223B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5811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45262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&amp; interact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657600" y="4489704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report to open it — it opens on the Executive Dashboard page by default; switch pages using the tabs at the bottom.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5422392"/>
            <a:ext cx="502920" cy="502920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5422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34440" y="536752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as needed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3657600" y="5330952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slicers described earlier; your selections are personal to your session unless you save a bookmark or personalised view.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CLIQ Analytics Dashboard  |  Power BI User Guide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Sharing, Apps &amp; Data Refresh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20440" cy="4617720"/>
          </a:xfrm>
          <a:prstGeom prst="roundRect">
            <a:avLst>
              <a:gd name="adj" fmla="val 2078"/>
            </a:avLst>
          </a:prstGeom>
          <a:solidFill>
            <a:srgbClr val="FDF7F9"/>
          </a:solidFill>
          <a:ln w="12700">
            <a:solidFill>
              <a:srgbClr val="E8DC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3520440" cy="82296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830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 the report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331720"/>
            <a:ext cx="182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33172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report, click Share (top right).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" y="3108960"/>
            <a:ext cx="182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310896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people/groups by email, or copy a direct link.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77240" y="3886200"/>
            <a:ext cx="182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388620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whether recipients can reshare or need to sign in.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97680" y="1508760"/>
            <a:ext cx="3520440" cy="4617720"/>
          </a:xfrm>
          <a:prstGeom prst="roundRect">
            <a:avLst>
              <a:gd name="adj" fmla="val 2078"/>
            </a:avLst>
          </a:prstGeom>
          <a:solidFill>
            <a:srgbClr val="FDF7F9"/>
          </a:solidFill>
          <a:ln w="12700">
            <a:solidFill>
              <a:srgbClr val="E8DCE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0" y="1508760"/>
            <a:ext cx="3520440" cy="82296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15" name="Text 13"/>
          <p:cNvSpPr/>
          <p:nvPr/>
        </p:nvSpPr>
        <p:spPr>
          <a:xfrm>
            <a:off x="4526280" y="17830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 / use an App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26280" y="2331720"/>
            <a:ext cx="182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233172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workspace, select Create app (or the existing app for this workspace).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26280" y="3108960"/>
            <a:ext cx="182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310896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this report to the app, set navigation and audience.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26280" y="3886200"/>
            <a:ext cx="182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0" y="388620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— users open it from Apps in the left nav rather than the raw workspace.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046720" y="1508760"/>
            <a:ext cx="3520440" cy="4617720"/>
          </a:xfrm>
          <a:prstGeom prst="roundRect">
            <a:avLst>
              <a:gd name="adj" fmla="val 2078"/>
            </a:avLst>
          </a:prstGeom>
          <a:solidFill>
            <a:srgbClr val="FDF7F9"/>
          </a:solidFill>
          <a:ln w="12700">
            <a:solidFill>
              <a:srgbClr val="E8DC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1508760"/>
            <a:ext cx="3520440" cy="82296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24" name="Text 22"/>
          <p:cNvSpPr/>
          <p:nvPr/>
        </p:nvSpPr>
        <p:spPr>
          <a:xfrm>
            <a:off x="8275320" y="17830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data current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275320" y="2331720"/>
            <a:ext cx="182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503920" y="233172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workspace, find the dataset behind this report.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275320" y="3108960"/>
            <a:ext cx="182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503920" y="310896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Refresh now for an on-demand update, or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275320" y="3886200"/>
            <a:ext cx="182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503920" y="388620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Scheduled refresh so figures stay current automatically.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CLIQ Analytics Dashboard  |  Power BI User Guide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22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861142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389120"/>
            <a:ext cx="3840480" cy="384048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2860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You're ready to use the dashboard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645920" y="3108960"/>
            <a:ext cx="8869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9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on the Executive Dashboard, filter to the view you need, dig into Sales vs Target for regional performance, and drop into the Table View for row-level detail.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166360" y="4114800"/>
            <a:ext cx="1828800" cy="0"/>
          </a:xfrm>
          <a:prstGeom prst="line">
            <a:avLst/>
          </a:prstGeom>
          <a:noFill/>
          <a:ln w="31750">
            <a:solidFill>
              <a:srgbClr val="F2A5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3434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app.powerbi.com  →  Workspaces  →  your workspace  →  TATA CLIQ report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2026-09-03T14:37:51Z</dcterms:created>
  <dcterms:modified xsi:type="dcterms:W3CDTF">2026-09-03T14:37:51Z</dcterms:modified>
</cp:coreProperties>
</file>